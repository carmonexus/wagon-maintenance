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Vagões em backlog ao fim de cada mês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Heurística local-first</c:v>
                </c:pt>
              </c:strCache>
            </c:strRef>
          </c:tx>
          <c:spPr>
            <a:solidFill>
              <a:srgbClr val="C0504D"/>
            </a:solidFill>
            <a:ln w="31750">
              <a:solidFill>
                <a:srgbClr val="C0504D"/>
              </a:solidFill>
            </a:ln>
          </c:spPr>
          <c:marker>
            <c:size val="7"/>
            <c:spPr>
              <a:solidFill>
                <a:srgbClr val="C0504D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7</c:v>
                </c:pt>
                <c:pt idx="4">
                  <c:v>21</c:v>
                </c:pt>
                <c:pt idx="5">
                  <c:v>21</c:v>
                </c:pt>
                <c:pt idx="6">
                  <c:v>42</c:v>
                </c:pt>
                <c:pt idx="7">
                  <c:v>31</c:v>
                </c:pt>
                <c:pt idx="8">
                  <c:v>34</c:v>
                </c:pt>
                <c:pt idx="9">
                  <c:v>36</c:v>
                </c:pt>
                <c:pt idx="10">
                  <c:v>37</c:v>
                </c:pt>
                <c:pt idx="11">
                  <c:v>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PLI otimizado</c:v>
                </c:pt>
              </c:strCache>
            </c:strRef>
          </c:tx>
          <c:spPr>
            <a:solidFill>
              <a:srgbClr val="1F4E79"/>
            </a:solidFill>
            <a:ln w="31750">
              <a:solidFill>
                <a:srgbClr val="1F4E79"/>
              </a:solidFill>
            </a:ln>
          </c:spPr>
          <c:marker>
            <c:size val="7"/>
            <c:spPr>
              <a:solidFill>
                <a:srgbClr val="1F4E79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1</c:v>
                </c:pt>
                <c:pt idx="4">
                  <c:v>12</c:v>
                </c:pt>
                <c:pt idx="5">
                  <c:v>10</c:v>
                </c:pt>
                <c:pt idx="6">
                  <c:v>28</c:v>
                </c:pt>
                <c:pt idx="7">
                  <c:v>16</c:v>
                </c:pt>
                <c:pt idx="8">
                  <c:v>16</c:v>
                </c:pt>
                <c:pt idx="9">
                  <c:v>15</c:v>
                </c:pt>
                <c:pt idx="10">
                  <c:v>12</c:v>
                </c:pt>
                <c:pt idx="11">
                  <c:v>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B6573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FE3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6573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D27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Homem-hora anual por posto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Heurística</c:v>
                </c:pt>
              </c:strCache>
            </c:strRef>
          </c:tx>
          <c:spPr>
            <a:solidFill>
              <a:srgbClr val="C0504D"/>
            </a:solidFill>
            <a:ln>
              <a:solidFill>
                <a:srgbClr val="C0504D"/>
              </a:solidFill>
            </a:ln>
          </c:spPr>
          <c:cat>
            <c:strRef>
              <c:f>Sheet1!$A$2:$A$4</c:f>
              <c:strCache>
                <c:ptCount val="3"/>
                <c:pt idx="0">
                  <c:v>PM1</c:v>
                </c:pt>
                <c:pt idx="1">
                  <c:v>PM2 (VR4/VRG)</c:v>
                </c:pt>
                <c:pt idx="2">
                  <c:v>PM3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3410</c:v>
                </c:pt>
                <c:pt idx="1">
                  <c:v>6488</c:v>
                </c:pt>
                <c:pt idx="2">
                  <c:v>3371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Otimizado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cat>
            <c:strRef>
              <c:f>Sheet1!$A$2:$A$4</c:f>
              <c:strCache>
                <c:ptCount val="3"/>
                <c:pt idx="0">
                  <c:v>PM1</c:v>
                </c:pt>
                <c:pt idx="1">
                  <c:v>PM2 (VR4/VRG)</c:v>
                </c:pt>
                <c:pt idx="2">
                  <c:v>PM3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3765</c:v>
                </c:pt>
                <c:pt idx="1">
                  <c:v>6517</c:v>
                </c:pt>
                <c:pt idx="2">
                  <c:v>3888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Capacidade efetiva</c:v>
                </c:pt>
              </c:strCache>
            </c:strRef>
          </c:tx>
          <c:spPr>
            <a:solidFill>
              <a:srgbClr val="9AA3AE"/>
            </a:solidFill>
            <a:ln>
              <a:solidFill>
                <a:srgbClr val="9AA3AE"/>
              </a:solidFill>
            </a:ln>
          </c:spPr>
          <c:cat>
            <c:strRef>
              <c:f>Sheet1!$A$2:$A$4</c:f>
              <c:strCache>
                <c:ptCount val="3"/>
                <c:pt idx="0">
                  <c:v>PM1</c:v>
                </c:pt>
                <c:pt idx="1">
                  <c:v>PM2 (VR4/VRG)</c:v>
                </c:pt>
                <c:pt idx="2">
                  <c:v>PM3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4788</c:v>
                </c:pt>
                <c:pt idx="1">
                  <c:v>6525</c:v>
                </c:pt>
                <c:pt idx="2">
                  <c:v>4351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B6573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FE3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6573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D27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Componentes do custo total (mil MU normalizadas)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Manutenção direta</c:v>
                </c:pt>
              </c:strCache>
            </c:strRef>
          </c:tx>
          <c:spPr>
            <a:solidFill>
              <a:srgbClr val="9FB4C8"/>
            </a:solidFill>
            <a:ln>
              <a:solidFill>
                <a:srgbClr val="9FB4C8"/>
              </a:solidFill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Heurística</c:v>
                </c:pt>
                <c:pt idx="1">
                  <c:v>Otimizado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85.3</c:v>
                </c:pt>
                <c:pt idx="1">
                  <c:v>89.8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Logística</c:v>
                </c:pt>
              </c:strCache>
            </c:strRef>
          </c:tx>
          <c:spPr>
            <a:solidFill>
              <a:srgbClr val="6F8FAE"/>
            </a:solidFill>
            <a:ln>
              <a:solidFill>
                <a:srgbClr val="6F8FAE"/>
              </a:solidFill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Heurística</c:v>
                </c:pt>
                <c:pt idx="1">
                  <c:v>Otimizado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15.1</c:v>
                </c:pt>
                <c:pt idx="1">
                  <c:v>19.1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Indisponibilidade</c:v>
                </c:pt>
              </c:strCache>
            </c:strRef>
          </c:tx>
          <c:spPr>
            <a:solidFill>
              <a:srgbClr val="4A6D8F"/>
            </a:solidFill>
            <a:ln>
              <a:solidFill>
                <a:srgbClr val="4A6D8F"/>
              </a:solidFill>
            </a:ln>
          </c:spPr>
          <c:cat>
            <c:strRef>
              <c:f>Sheet1!$A$2:$A$3</c:f>
              <c:strCache>
                <c:ptCount val="2"/>
                <c:pt idx="0">
                  <c:v>Heurística</c:v>
                </c:pt>
                <c:pt idx="1">
                  <c:v>Otimizado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5.9</c:v>
                </c:pt>
                <c:pt idx="1">
                  <c:v>7.1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Retenção</c:v>
                </c:pt>
              </c:strCache>
            </c:strRef>
          </c:tx>
          <c:spPr>
            <a:solidFill>
              <a:srgbClr val="2C4A68"/>
            </a:solidFill>
            <a:ln>
              <a:solidFill>
                <a:srgbClr val="2C4A68"/>
              </a:solidFill>
            </a:ln>
          </c:spPr>
          <c:cat>
            <c:strRef>
              <c:f>Sheet1!$A$2:$A$3</c:f>
              <c:strCache>
                <c:ptCount val="2"/>
                <c:pt idx="0">
                  <c:v>Heurística</c:v>
                </c:pt>
                <c:pt idx="1">
                  <c:v>Otimizado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6.3</c:v>
                </c:pt>
                <c:pt idx="1">
                  <c:v>6.9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Penalidade de backlog</c:v>
                </c:pt>
              </c:strCache>
            </c:strRef>
          </c:tx>
          <c:spPr>
            <a:solidFill>
              <a:srgbClr val="C0504D"/>
            </a:solidFill>
            <a:ln>
              <a:solidFill>
                <a:srgbClr val="C0504D"/>
              </a:solidFill>
            </a:ln>
          </c:spPr>
          <c:dLbls>
            <c:numFmt formatCode="0.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Heurística</c:v>
                </c:pt>
                <c:pt idx="1">
                  <c:v>Otimizado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116.1</c:v>
                </c:pt>
                <c:pt idx="1">
                  <c:v>47.8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6573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FE3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6573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D27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de apoio para a sessão de pôsteres. Roteiro: contexto e perguntas (α β γ), modelo, instância, comparação, resultados, mecanismo do ganho, custo, conclusões.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que a heurística obedece às mesmas restrições. O ganho não vem de relaxar regras.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slide-chave: o gargalo do PM2 explica 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991.png"/>
          <p:cNvPicPr>
            <a:picLocks noChangeAspect="1"/>
          </p:cNvPicPr>
          <p:nvPr/>
        </p:nvPicPr>
        <p:blipFill>
          <a:blip r:embed="rId2"/>
          <a:srcRect t="17434" b="17434"/>
          <a:stretch>
            <a:fillRect/>
          </a:stretch>
        </p:blipFill>
        <p:spPr>
          <a:xfrm>
            <a:off x="0" y="0"/>
            <a:ext cx="12191695" cy="3703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703320"/>
            <a:ext cx="12191695" cy="315468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96926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Otimização do Mix de Alocação da Manutenção de Vagões em Ferrovias de Carga por Programação Linear Inteira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74920"/>
            <a:ext cx="9692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D9D6F3"/>
                </a:solidFill>
                <a:latin typeface="Cambria"/>
              </a:rPr>
              <a:t>Optimization of Wagon Maintenance Mix Allocation in Freight Railways Using Integer Linear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9692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2B230"/>
                </a:solidFill>
                <a:latin typeface="Calibri"/>
              </a:rPr>
              <a:t>Carmo Crediney Melo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· José Cristiano Pereira · Luciano M. S. Varricchio · Prudente J. T. Aguiar · Felipe M. Lopes · Bruno M. O. Jordão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70448"/>
            <a:ext cx="9692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D9D6F3"/>
                </a:solidFill>
                <a:latin typeface="Calibri"/>
              </a:rPr>
              <a:t>Universidade Católica de Petrópolis (UCP) · Sessão de Pôsteres · LVIII SBPO, Belo Horizonte, 28/09 a 01/10/2026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17175" y="4023360"/>
            <a:ext cx="1463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uc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4114800"/>
            <a:ext cx="1280160" cy="65032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317175" y="557784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bra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935" y="5641848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Contexto e perguntas de pesquisa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51415" y="109728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b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82880"/>
            <a:ext cx="1266371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LVIII SBPO · Belo Horizonte 2026 · Otimização do Mix de Alocação da Manutenção de Vagões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49834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A2270"/>
                </a:solidFill>
                <a:latin typeface="Cambria"/>
              </a:rPr>
              <a:t>Por que o problema importa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1206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2B23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Ferrovias brasileiras moveram </a:t>
            </a:r>
            <a:r>
              <a:rPr sz="1500" b="1" i="0">
                <a:solidFill>
                  <a:srgbClr val="1D2733"/>
                </a:solidFill>
                <a:latin typeface="Calibri"/>
              </a:rPr>
              <a:t>&gt; 540 milhões de TU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 em 2024 (Ministério dos Transportes).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2B23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Frotas de </a:t>
            </a:r>
            <a:r>
              <a:rPr sz="1500" b="1" i="0">
                <a:solidFill>
                  <a:srgbClr val="1D2733"/>
                </a:solidFill>
                <a:latin typeface="Calibri"/>
              </a:rPr>
              <a:t>~20 mil vagões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 e ~18 mil intervenções por ano.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2B23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Decidir </a:t>
            </a:r>
            <a:r>
              <a:rPr sz="1500" b="1" i="0">
                <a:solidFill>
                  <a:srgbClr val="1D2733"/>
                </a:solidFill>
                <a:latin typeface="Calibri"/>
              </a:rPr>
              <a:t>onde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 e </a:t>
            </a:r>
            <a:r>
              <a:rPr sz="1500" b="1" i="0">
                <a:solidFill>
                  <a:srgbClr val="1D2733"/>
                </a:solidFill>
                <a:latin typeface="Calibri"/>
              </a:rPr>
              <a:t>quando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 manter cada vagão afeta custo, disponibilidade da frota e ocupação dos postos.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2B23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Escopos leves (VR1, VR2, VMC) cabem em qualquer posto; revisões pesadas (VR4, VRG) só no </a:t>
            </a:r>
            <a:r>
              <a:rPr sz="1500" b="1" i="0">
                <a:solidFill>
                  <a:srgbClr val="1D2733"/>
                </a:solidFill>
                <a:latin typeface="Calibri"/>
              </a:rPr>
              <a:t>PM2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2B23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Transferir gera custo logístico e de indisponibilidade: às vezes </a:t>
            </a:r>
            <a:r>
              <a:rPr sz="1500" b="1" i="0">
                <a:solidFill>
                  <a:srgbClr val="1D2733"/>
                </a:solidFill>
                <a:latin typeface="Calibri"/>
              </a:rPr>
              <a:t>adiar é melhor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2B23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1D2733"/>
                </a:solidFill>
                <a:latin typeface="Calibri"/>
              </a:rPr>
              <a:t>Capacidade mensal cai com férias e reparo de equipamentos.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2A2270"/>
                </a:solidFill>
                <a:latin typeface="Cambria"/>
              </a:rPr>
              <a:t>Perguntas de pesquisa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2011679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A2270"/>
                </a:solidFill>
                <a:latin typeface="Cambria"/>
              </a:rPr>
              <a:t>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47672"/>
            <a:ext cx="448056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2733"/>
                </a:solidFill>
                <a:latin typeface="Calibri"/>
              </a:rPr>
              <a:t>Como alocar a demanda de manutenção entre postos minimizando o custo total sem violar as restrições operacionais?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291839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3428999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A2270"/>
                </a:solidFill>
                <a:latin typeface="Cambria"/>
              </a:rPr>
              <a:t>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364991"/>
            <a:ext cx="448056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2733"/>
                </a:solidFill>
                <a:latin typeface="Calibri"/>
              </a:rPr>
              <a:t>Quanto tratar capacidade, elegibilidade técnica e custos compostos em conjunto melhora o plano frente a regras locais ou heurísticas?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7091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48463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A2270"/>
                </a:solidFill>
                <a:latin typeface="Cambria"/>
              </a:rPr>
              <a:t>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782312"/>
            <a:ext cx="448056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2733"/>
                </a:solidFill>
                <a:latin typeface="Calibri"/>
              </a:rPr>
              <a:t>Quanto um modelo de otimização eleva a qualidade analítica e os ganhos gerenciais do planejamento tático?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172200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573"/>
                </a:solidFill>
                <a:latin typeface="Calibri"/>
              </a:rPr>
              <a:t>As letras α, β e γ marcam, nos próximos slides, onde cada pergunta é respondida.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Modelo de programação linear inteira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7055" y="3383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2A2270"/>
                </a:solidFill>
                <a:latin typeface="Cambria"/>
              </a:rPr>
              <a:t>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109728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b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82880"/>
            <a:ext cx="1266371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LVIII SBPO · Belo Horizonte 2026 · Otimização do Mix de Alocação da Manutenção de Vagões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D2733"/>
                </a:solidFill>
                <a:latin typeface="Calibri"/>
              </a:rPr>
              <a:t>Variáveis: </a:t>
            </a:r>
            <a:r>
              <a:rPr sz="1400" b="0" i="1">
                <a:solidFill>
                  <a:srgbClr val="1D2733"/>
                </a:solidFill>
                <a:latin typeface="Cambria"/>
              </a:rPr>
              <a:t>x</a:t>
            </a:r>
            <a:r>
              <a:rPr sz="1000" b="0" i="0">
                <a:solidFill>
                  <a:srgbClr val="1D2733"/>
                </a:solidFill>
                <a:latin typeface="Calibri"/>
              </a:rPr>
              <a:t>gvetpm</a:t>
            </a:r>
            <a:r>
              <a:rPr sz="1400" b="0" i="0">
                <a:solidFill>
                  <a:srgbClr val="1D2733"/>
                </a:solidFill>
                <a:latin typeface="Calibri"/>
              </a:rPr>
              <a:t> = vagões da região g, tipo v, escopo e, no mês t, atendidos no posto pm;   </a:t>
            </a:r>
            <a:r>
              <a:rPr sz="1400" b="0" i="1">
                <a:solidFill>
                  <a:srgbClr val="1D2733"/>
                </a:solidFill>
                <a:latin typeface="Cambria"/>
              </a:rPr>
              <a:t>q</a:t>
            </a:r>
            <a:r>
              <a:rPr sz="1000" b="0" i="0">
                <a:solidFill>
                  <a:srgbClr val="1D2733"/>
                </a:solidFill>
                <a:latin typeface="Calibri"/>
              </a:rPr>
              <a:t>gvet</a:t>
            </a:r>
            <a:r>
              <a:rPr sz="1400" b="0" i="0">
                <a:solidFill>
                  <a:srgbClr val="1D2733"/>
                </a:solidFill>
                <a:latin typeface="Calibri"/>
              </a:rPr>
              <a:t> = backlog ao fim do mês.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73936"/>
            <a:ext cx="6583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Custo total mínimo = serviço + penalidade de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79"/>
            <a:ext cx="6583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A2270"/>
                </a:solidFill>
                <a:latin typeface="Cambria"/>
              </a:rPr>
              <a:t>min Z  =  Σ c·x  +  Σ p·q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23744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6583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Custo composto: manutenção + logística + indisponibilidade + 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98063"/>
            <a:ext cx="6583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A2270"/>
                </a:solidFill>
                <a:latin typeface="Cambria"/>
              </a:rPr>
              <a:t>c  =  c_man + c_log + c_indisp + c_ret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10128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46704"/>
            <a:ext cx="6583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Balanço demanda–backlog entre meses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84448"/>
            <a:ext cx="6583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A2270"/>
                </a:solidFill>
                <a:latin typeface="Cambria"/>
              </a:rPr>
              <a:t>Σ_pm x  +  q_t  =  d_t  +  q_(t−1)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96512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33088"/>
            <a:ext cx="6583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Capacidade efetiva em HH (mín. e máx.) por posto e 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70832"/>
            <a:ext cx="6583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A2270"/>
                </a:solidFill>
                <a:latin typeface="Cambria"/>
              </a:rPr>
              <a:t>CapMin  ≤  Σ h·x  ≤  CapMax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82896"/>
            <a:ext cx="6949440" cy="69494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19472"/>
            <a:ext cx="6583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B6573"/>
                </a:solidFill>
                <a:latin typeface="Calibri"/>
              </a:rPr>
              <a:t>Elegibilidade técnica e integralidade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57216"/>
            <a:ext cx="6583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A2270"/>
                </a:solidFill>
                <a:latin typeface="Cambria"/>
              </a:rPr>
              <a:t>x  ≤  U·a        x, q ∈ ℤ₊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737360"/>
            <a:ext cx="3840480" cy="384048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82880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B230"/>
                </a:solidFill>
                <a:latin typeface="Cambria"/>
              </a:rPr>
              <a:t>O que o modelo 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286000"/>
            <a:ext cx="34747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2B23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Quantos vagões de cada grupo vão a cada posto, mês a mês.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2B23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Quantos ficam em backlog, pagando penalidade finita.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2B23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Respeita carga mínima e máxima em HH e a elegibilidade por escopo.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2B23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Distingue inviabilidade técnica de adiamento economicamente justificado.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715000"/>
            <a:ext cx="3840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5B6573"/>
                </a:solidFill>
                <a:latin typeface="Calibri"/>
              </a:rPr>
              <a:t>Implementação: </a:t>
            </a:r>
            <a:r>
              <a:rPr sz="1200" b="0" i="0">
                <a:solidFill>
                  <a:srgbClr val="5B6573"/>
                </a:solidFill>
                <a:latin typeface="Calibri"/>
              </a:rPr>
              <a:t>Python + SciPy, solver HiGHS (MILP, gap 10⁻⁴). Dados em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Instância de teste anonimizada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51415" y="109728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b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82880"/>
            <a:ext cx="1266371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LVIII SBPO · Belo Horizonte 2026 · Otimização do Mix de Alocação da Manutenção de Vagões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2A2270"/>
                </a:solidFill>
                <a:latin typeface="Cambria"/>
              </a:rPr>
              <a:t>1.004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B6573"/>
                </a:solidFill>
                <a:latin typeface="Calibri"/>
              </a:rPr>
              <a:t>intervenções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28016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98448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2A2270"/>
                </a:solidFill>
                <a:latin typeface="Cambria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47088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B6573"/>
                </a:solidFill>
                <a:latin typeface="Calibri"/>
              </a:rPr>
              <a:t>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28016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298448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2A2270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847088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B6573"/>
                </a:solidFill>
                <a:latin typeface="Calibri"/>
              </a:rPr>
              <a:t>regiões · 3 postos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28016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1298448"/>
            <a:ext cx="2651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2A2270"/>
                </a:solidFill>
                <a:latin typeface="Cambria"/>
              </a:rPr>
              <a:t>1.152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1847088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5B6573"/>
                </a:solidFill>
                <a:latin typeface="Calibri"/>
              </a:rPr>
              <a:t>variáveis inteiras · 396 restrições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560320"/>
          <a:ext cx="65836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Escopo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PM1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PM2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PM3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HH GDT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HH GDU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VR1 (leve)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VR2 (leve)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VR4 (pesada)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504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504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VRG (pesada)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504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C0504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VMC (corretiva)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7A3E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4617720"/>
            <a:ext cx="6583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B6573"/>
                </a:solidFill>
                <a:latin typeface="Calibri"/>
              </a:rPr>
              <a:t>Elegibilidade técnica e homem-hora por vagão. Índice de dificuldade GDU = 150/130 = 1,154 (peso bruto).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560320"/>
            <a:ext cx="4114800" cy="356616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651760"/>
            <a:ext cx="374903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B230"/>
                </a:solidFill>
                <a:latin typeface="Cambria"/>
              </a:rPr>
              <a:t>Folga agregada, gargalo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108960"/>
            <a:ext cx="3749039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2B23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Carga anual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14.556 HH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contra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15.664 HH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efetivos: folga de 7,6 %.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2B23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Mas os escopos pesados pedem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6.593 HH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e o PM2 só tem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6.525 HH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2B23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PM1 e PM3 sobram horas, porém não podem fazer VR4 nem VRG.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2B230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Férias e reparos reduzem a capacidade em meses específicos.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Comparação justa e ablação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7055" y="3383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2A2270"/>
                </a:solidFill>
                <a:latin typeface="Cambria"/>
              </a:rPr>
              <a:t>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109728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b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82880"/>
            <a:ext cx="1266371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LVIII SBPO · Belo Horizonte 2026 · Otimização do Mix de Alocação da Manutenção de Vagões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2733"/>
                </a:solidFill>
                <a:latin typeface="Calibri"/>
              </a:rPr>
              <a:t>Heurística local-first com as mesmas restrições do modelo: demanda, elegibilidade, carga mínima e máxima, backlog.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64792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2B230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187451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D2733"/>
                </a:solidFill>
                <a:latin typeface="Calibri"/>
              </a:rPr>
              <a:t>Demanda nova + 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01168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5B6573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17373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764792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2B230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87451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D2733"/>
                </a:solidFill>
                <a:latin typeface="Calibri"/>
              </a:rPr>
              <a:t>Carga mínima de cada posto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201168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5B6573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7373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764792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2B230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057400"/>
            <a:ext cx="187451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D2733"/>
                </a:solidFill>
                <a:latin typeface="Calibri"/>
              </a:rPr>
              <a:t>Posto local elegível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01168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5B6573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7373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764792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2B230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057400"/>
            <a:ext cx="187451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D2733"/>
                </a:solidFill>
                <a:latin typeface="Calibri"/>
              </a:rPr>
              <a:t>Outros postos por custo crescente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011680"/>
            <a:ext cx="274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5B6573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173736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1764792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2B230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057400"/>
            <a:ext cx="1874519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D2733"/>
                </a:solidFill>
                <a:latin typeface="Calibri"/>
              </a:rPr>
              <a:t>Sobra vai ao backlog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" y="2971800"/>
          <a:ext cx="69494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Cenário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Custo total (MU)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Backlog final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Remotos</a:t>
                      </a:r>
                    </a:p>
                  </a:txBody>
                  <a:tcPr marL="73152" marR="73152" marT="27432" marB="27432">
                    <a:solidFill>
                      <a:srgbClr val="2A227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Heurística local-first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228.672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306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D2733"/>
                          </a:solidFill>
                          <a:latin typeface="Calibri"/>
                        </a:rPr>
                        <a:t>PLI completo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733"/>
                          </a:solidFill>
                          <a:latin typeface="Calibri"/>
                        </a:rPr>
                        <a:t>170.690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7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2733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Só custo direto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178.447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612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Sem carga mínima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170.591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398</a:t>
                      </a:r>
                    </a:p>
                  </a:txBody>
                  <a:tcPr marL="73152" marR="73152" marT="27432" marB="27432">
                    <a:solidFill>
                      <a:srgbClr val="F5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Relaxação LP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169.297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8,68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D27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772400" y="2971800"/>
            <a:ext cx="3840480" cy="315468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06324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A2270"/>
                </a:solidFill>
                <a:latin typeface="Cambria"/>
              </a:rPr>
              <a:t>O que a ablação mostra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520440"/>
            <a:ext cx="347472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2B230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Planejar só pelo custo direto </a:t>
            </a:r>
            <a:r>
              <a:rPr sz="1300" b="1" i="0">
                <a:solidFill>
                  <a:srgbClr val="1D2733"/>
                </a:solidFill>
                <a:latin typeface="Calibri"/>
              </a:rPr>
              <a:t>dobra as transferências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 (401 → 612) e custa mais no total.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2B230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A carga mínima quase não custa: 0,06 % do objetivo.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2B230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A relaxação LP gera </a:t>
            </a:r>
            <a:r>
              <a:rPr sz="1300" b="1" i="0">
                <a:solidFill>
                  <a:srgbClr val="1D2733"/>
                </a:solidFill>
                <a:latin typeface="Calibri"/>
              </a:rPr>
              <a:t>vagões fracionários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 (8,68 em backlog); gap de integralidade 0,82 %.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69494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1">
                <a:solidFill>
                  <a:srgbClr val="5B6573"/>
                </a:solidFill>
                <a:latin typeface="Calibri"/>
              </a:rPr>
              <a:t>Os dois métodos obedecem às mesmas regras; diferem na qualidade da decisão, não nas restrições.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Resultados: heurística × otimizado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54135" y="3383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2A2270"/>
                </a:solidFill>
                <a:latin typeface="Cambria"/>
              </a:rPr>
              <a:t>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7055" y="3383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2A2270"/>
                </a:solidFill>
                <a:latin typeface="Cambria"/>
              </a:rPr>
              <a:t>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51415" y="109728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sb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82880"/>
            <a:ext cx="1266371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LVIII SBPO · Belo Horizonte 2026 · Otimização do Mix de Alocação da Manutenção de Vagões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2651760" cy="7543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2B230"/>
                </a:solidFill>
                <a:latin typeface="Calibri"/>
              </a:rPr>
              <a:t>39 →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30552"/>
            <a:ext cx="265176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backlog final (vagões)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−76,9 %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389888"/>
            <a:ext cx="2651760" cy="7543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2B230"/>
                </a:solidFill>
                <a:latin typeface="Calibri"/>
              </a:rPr>
              <a:t>−54,4 %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130552"/>
            <a:ext cx="265176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backlog acumulado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274 → 125 vagões-mês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1389888"/>
            <a:ext cx="2651760" cy="7543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2B230"/>
                </a:solidFill>
                <a:latin typeface="Calibri"/>
              </a:rPr>
              <a:t>−25,4 %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130552"/>
            <a:ext cx="265176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custo total do sistema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228,7 mil → 170,7 mil MU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1389888"/>
            <a:ext cx="2651760" cy="7543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2B230"/>
                </a:solidFill>
                <a:latin typeface="Calibri"/>
              </a:rPr>
              <a:t>&lt; 1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2130552"/>
            <a:ext cx="265176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tempo de solução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11.520 variáveis em &lt; 6 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48640" y="2834640"/>
          <a:ext cx="694944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772400" y="2834640"/>
            <a:ext cx="3840480" cy="34747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92608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2A2270"/>
                </a:solidFill>
                <a:latin typeface="Cambria"/>
              </a:rPr>
              <a:t>Leitura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383280"/>
            <a:ext cx="347472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2B230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Atendidos </a:t>
            </a:r>
            <a:r>
              <a:rPr sz="1300" b="1" i="0">
                <a:solidFill>
                  <a:srgbClr val="1D2733"/>
                </a:solidFill>
                <a:latin typeface="Calibri"/>
              </a:rPr>
              <a:t>995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 vagões contra </a:t>
            </a:r>
            <a:r>
              <a:rPr sz="1300" b="1" i="0">
                <a:solidFill>
                  <a:srgbClr val="1D2733"/>
                </a:solidFill>
                <a:latin typeface="Calibri"/>
              </a:rPr>
              <a:t>965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2B230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A fila da heurística cresce a partir do mês 5 e não se recupera; o ótimo pica no mês 7 e desce.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2B230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Mais movimentos remotos (401 × 306), mas só quando </a:t>
            </a:r>
            <a:r>
              <a:rPr sz="1300" b="1" i="0">
                <a:solidFill>
                  <a:srgbClr val="1D2733"/>
                </a:solidFill>
                <a:latin typeface="Calibri"/>
              </a:rPr>
              <a:t>custam menos que esperar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De onde vem o ganho: o gargalo do PM2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7055" y="3383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2A2270"/>
                </a:solidFill>
                <a:latin typeface="Cambria"/>
              </a:rPr>
              <a:t>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109728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b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82880"/>
            <a:ext cx="1266371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LVIII SBPO · Belo Horizonte 2026 · Otimização do Mix de Alocação da Manutenção de Vagões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280160"/>
          <a:ext cx="630936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32320" y="1280160"/>
            <a:ext cx="4480560" cy="493776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114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B230"/>
                </a:solidFill>
                <a:latin typeface="Cambria"/>
              </a:rPr>
              <a:t>O mecanismo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28800"/>
            <a:ext cx="411480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PM2 é o único posto que faz VR4 e VRG, e a demanda pesada já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supera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sua capacidade.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A heurística ainda manda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119 vagões leves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ao PM2 (103 VMC + 16 VR1), só por serem da região.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Resultado: apenas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40 revisões VR4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no ano e 216 vagões-mês de VR4 em fila.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O ótimo envia só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34 leves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ao PM2, desloca o leve para PM1 e PM3 e faz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75 VR4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Backlog de VR4 cai de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216 para 41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 vagões-mês.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Custo: mais transporte, muito menos espera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57055" y="3383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80" b="1">
                <a:solidFill>
                  <a:srgbClr val="2A2270"/>
                </a:solidFill>
                <a:latin typeface="Cambria"/>
              </a:rPr>
              <a:t>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51415" y="109728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b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82880"/>
            <a:ext cx="1266371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LVIII SBPO · Belo Horizonte 2026 · Otimização do Mix de Alocação da Manutenção de Vagões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280160"/>
          <a:ext cx="69494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1280160"/>
            <a:ext cx="3840480" cy="1508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371600"/>
            <a:ext cx="17373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A2270"/>
                </a:solidFill>
                <a:latin typeface="Cambria"/>
              </a:rPr>
              <a:t>+9 %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371600"/>
            <a:ext cx="19202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D2733"/>
                </a:solidFill>
                <a:latin typeface="Calibri"/>
              </a:rPr>
              <a:t>custo de serviço
112,5 → 122,9 mil MU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971800"/>
            <a:ext cx="3840480" cy="150876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063240"/>
            <a:ext cx="17373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2A2270"/>
                </a:solidFill>
                <a:latin typeface="Cambria"/>
              </a:rPr>
              <a:t>−59 %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063240"/>
            <a:ext cx="19202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D2733"/>
                </a:solidFill>
                <a:latin typeface="Calibri"/>
              </a:rPr>
              <a:t>penalidade de backlog
116,1 → 47,8 mil MU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663440"/>
            <a:ext cx="3840480" cy="150876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754879"/>
            <a:ext cx="173736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F2B230"/>
                </a:solidFill>
                <a:latin typeface="Cambria"/>
              </a:rPr>
              <a:t>−25,4 %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754879"/>
            <a:ext cx="192024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custo total do sistema
228,7 → 170,7 mil MU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778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Conclusões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51415" y="109728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b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182880"/>
            <a:ext cx="1266371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LVIII SBPO · Belo Horizonte 2026 · Otimização do Mix de Alocação da Manutenção de Vagões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B6573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7406640" cy="11887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17319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A2270"/>
                </a:solidFill>
                <a:latin typeface="Cambria"/>
              </a:rPr>
              <a:t>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25880"/>
            <a:ext cx="653796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2733"/>
                </a:solidFill>
                <a:latin typeface="Calibri"/>
              </a:rPr>
              <a:t>O modelo de balanço de fluxo aloca serviço e backlog ao longo dos meses e distingue inviabilidade técnica de adiamento economicamente justificado.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39"/>
            <a:ext cx="7406640" cy="11887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743199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A2270"/>
                </a:solidFill>
                <a:latin typeface="Cambria"/>
              </a:rPr>
              <a:t>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51759"/>
            <a:ext cx="653796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2733"/>
                </a:solidFill>
                <a:latin typeface="Calibri"/>
              </a:rPr>
              <a:t>Frente à heurística local-first, com as mesmas regras: 995 × 965 vagões atendidos, backlog acumulado −54,4 %, backlog final −76,9 %, custo total −25,4 %. A ablação confirma o papel do custo composto, da elegibilidade, da carga mínima e da integralidade.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7406640" cy="1188720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0690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2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A2270"/>
                </a:solidFill>
                <a:latin typeface="Cambria"/>
              </a:rPr>
              <a:t>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77639"/>
            <a:ext cx="653796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2733"/>
                </a:solidFill>
                <a:latin typeface="Calibri"/>
              </a:rPr>
              <a:t>Resolve em menos de 1 s (e 11.520 variáveis em menos de 6 s), o que permite testar cenários de parada, capacidade, terceirização, equipamento e movimentação no ciclo tático mensal.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0352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70408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2A2270"/>
                </a:solidFill>
                <a:latin typeface="Calibri"/>
              </a:rPr>
              <a:t>Lição gerencial: </a:t>
            </a:r>
            <a:r>
              <a:rPr sz="1300" b="0" i="0">
                <a:solidFill>
                  <a:srgbClr val="1D2733"/>
                </a:solidFill>
                <a:latin typeface="Calibri"/>
              </a:rPr>
              <a:t>folga agregada de homem-hora não garante atendimento. A capacidade é diferenciada por escopo, posto e mês, e é aí que a otimização encontra o ganho.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280160"/>
            <a:ext cx="3383280" cy="4937760"/>
          </a:xfrm>
          <a:prstGeom prst="roundRect">
            <a:avLst>
              <a:gd name="adj" fmla="val 8000"/>
            </a:avLst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37160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B230"/>
                </a:solidFill>
                <a:latin typeface="Cambria"/>
              </a:rPr>
              <a:t>Próximos passos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828800"/>
            <a:ext cx="30175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Incerteza na demanda (cenários e programação estocástica).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Capacidade detalhada da malha e das rotas de transferência.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Idade do backlog e prioridade por criticidade.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Disponibilidade de estoque MRO e terceirização.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F2B230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Validação com dados de concessionárias.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_991.png"/>
          <p:cNvPicPr>
            <a:picLocks noChangeAspect="1"/>
          </p:cNvPicPr>
          <p:nvPr/>
        </p:nvPicPr>
        <p:blipFill>
          <a:blip r:embed="rId2"/>
          <a:srcRect t="20249" b="20249"/>
          <a:stretch>
            <a:fillRect/>
          </a:stretch>
        </p:blipFill>
        <p:spPr>
          <a:xfrm>
            <a:off x="0" y="0"/>
            <a:ext cx="12191695" cy="3383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383280"/>
            <a:ext cx="12191695" cy="3474720"/>
          </a:xfrm>
          <a:prstGeom prst="rect">
            <a:avLst/>
          </a:prstGeom>
          <a:solidFill>
            <a:srgbClr val="2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6766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Obrigado!  ·  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67665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>
                <a:solidFill>
                  <a:srgbClr val="F2B230"/>
                </a:solidFill>
                <a:latin typeface="Calibri"/>
              </a:rPr>
              <a:t>Carmo Crediney Melo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·  carmo.42640028@ucp.br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Universidade Católica de Petrópolis (UCP)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Artigo completo nos anais: proceedings.science/sbpo-2026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FAQ, pôster (PT/EN), código e dados: carmonexus.github.io/wagon-maintenance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361188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fa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9" y="3675887"/>
            <a:ext cx="160020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5349240"/>
            <a:ext cx="1783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A2270"/>
                </a:solidFill>
                <a:latin typeface="Calibri"/>
              </a:rPr>
              <a:t>FAQ · código · dados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59" y="361188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399" y="3675887"/>
            <a:ext cx="16002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66959" y="5349240"/>
            <a:ext cx="17830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A2270"/>
                </a:solidFill>
                <a:latin typeface="Calibri"/>
              </a:rPr>
              <a:t>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D9D6F3"/>
                </a:solidFill>
                <a:latin typeface="Calibri"/>
              </a:rPr>
              <a:t>Valores monetários normalizados; instância anonimizada e reprodutível.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